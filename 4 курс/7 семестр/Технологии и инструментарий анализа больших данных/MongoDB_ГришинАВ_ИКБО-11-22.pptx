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8"/>
  </p:notes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91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9FA203-6606-4A38-8634-28B48A9A06F6}" type="datetimeFigureOut">
              <a:rPr lang="ru-RU" smtClean="0"/>
              <a:t>11.12.2025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F472CF-07ED-496C-B2D1-8DFE05982E1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6120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F472CF-07ED-496C-B2D1-8DFE05982E11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2771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0880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127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5095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08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48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919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14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032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501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625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131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180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microsoft.com/office/2007/relationships/hdphoto" Target="../media/hdphoto2.wdp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209800" y="1020083"/>
            <a:ext cx="7772400" cy="1470025"/>
          </a:xfrm>
        </p:spPr>
        <p:txBody>
          <a:bodyPr>
            <a:normAutofit/>
          </a:bodyPr>
          <a:lstStyle/>
          <a:p>
            <a:r>
              <a:rPr lang="en-US" sz="5400" dirty="0"/>
              <a:t>MongoDB</a:t>
            </a:r>
            <a:endParaRPr lang="ru-RU" sz="5400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485053" y="4016829"/>
            <a:ext cx="6400800" cy="1752600"/>
          </a:xfrm>
        </p:spPr>
        <p:txBody>
          <a:bodyPr>
            <a:normAutofit/>
          </a:bodyPr>
          <a:lstStyle/>
          <a:p>
            <a:pPr algn="l"/>
            <a:r>
              <a:rPr lang="ru-RU" dirty="0" smtClean="0"/>
              <a:t>Выполнили</a:t>
            </a:r>
            <a:r>
              <a:rPr lang="en-US" dirty="0" smtClean="0"/>
              <a:t>:</a:t>
            </a:r>
            <a:br>
              <a:rPr lang="en-US" dirty="0" smtClean="0"/>
            </a:br>
            <a:r>
              <a:rPr lang="ru-RU" dirty="0" smtClean="0"/>
              <a:t>Студенты группы ИКБО-11-22</a:t>
            </a:r>
          </a:p>
          <a:p>
            <a:pPr algn="l"/>
            <a:r>
              <a:rPr lang="ru-RU" dirty="0" smtClean="0"/>
              <a:t>Андрусенко Л.Д.</a:t>
            </a:r>
            <a:br>
              <a:rPr lang="ru-RU" dirty="0" smtClean="0"/>
            </a:br>
            <a:r>
              <a:rPr lang="ru-RU" dirty="0" smtClean="0"/>
              <a:t>Гришин А.В.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095965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30045" y="964692"/>
            <a:ext cx="5937755" cy="1188720"/>
          </a:xfrm>
        </p:spPr>
        <p:txBody>
          <a:bodyPr/>
          <a:lstStyle/>
          <a:p>
            <a:r>
              <a:t>История создания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9907" y="2731352"/>
            <a:ext cx="5937755" cy="3101983"/>
          </a:xfrm>
        </p:spPr>
        <p:txBody>
          <a:bodyPr>
            <a:normAutofit/>
          </a:bodyPr>
          <a:lstStyle/>
          <a:p>
            <a:r>
              <a:rPr sz="2800" dirty="0"/>
              <a:t>MongoDB </a:t>
            </a:r>
            <a:r>
              <a:rPr sz="2800" dirty="0" err="1"/>
              <a:t>разработана</a:t>
            </a:r>
            <a:r>
              <a:rPr sz="2800" dirty="0"/>
              <a:t> в 2007 г. </a:t>
            </a:r>
            <a:r>
              <a:rPr sz="2800" dirty="0" err="1"/>
              <a:t>компанией</a:t>
            </a:r>
            <a:r>
              <a:rPr sz="2800" dirty="0"/>
              <a:t> 10gen.</a:t>
            </a:r>
          </a:p>
          <a:p>
            <a:r>
              <a:rPr sz="2800" dirty="0" err="1"/>
              <a:t>Создана</a:t>
            </a:r>
            <a:r>
              <a:rPr sz="2800" dirty="0"/>
              <a:t> </a:t>
            </a:r>
            <a:r>
              <a:rPr sz="2800" dirty="0" err="1"/>
              <a:t>для</a:t>
            </a:r>
            <a:r>
              <a:rPr sz="2800" dirty="0"/>
              <a:t> </a:t>
            </a:r>
            <a:r>
              <a:rPr sz="2800" dirty="0" err="1"/>
              <a:t>гибкого</a:t>
            </a:r>
            <a:r>
              <a:rPr sz="2800" dirty="0"/>
              <a:t> </a:t>
            </a:r>
            <a:r>
              <a:rPr sz="2800" dirty="0" err="1"/>
              <a:t>хранения</a:t>
            </a:r>
            <a:r>
              <a:rPr sz="2800" dirty="0"/>
              <a:t> </a:t>
            </a:r>
            <a:r>
              <a:rPr sz="2800" dirty="0" err="1"/>
              <a:t>данных</a:t>
            </a:r>
            <a:r>
              <a:rPr sz="2800" dirty="0"/>
              <a:t> и </a:t>
            </a:r>
            <a:r>
              <a:rPr sz="2800" dirty="0" err="1"/>
              <a:t>масштабирования</a:t>
            </a:r>
            <a:r>
              <a:rPr sz="2800" dirty="0"/>
              <a:t>.</a:t>
            </a:r>
          </a:p>
          <a:p>
            <a:r>
              <a:rPr sz="2800" dirty="0" err="1"/>
              <a:t>Быстро</a:t>
            </a:r>
            <a:r>
              <a:rPr sz="2800" dirty="0"/>
              <a:t> </a:t>
            </a:r>
            <a:r>
              <a:rPr sz="2800" dirty="0" err="1"/>
              <a:t>стала</a:t>
            </a:r>
            <a:r>
              <a:rPr sz="2800" dirty="0"/>
              <a:t> </a:t>
            </a:r>
            <a:r>
              <a:rPr sz="2800" dirty="0" err="1"/>
              <a:t>популярной</a:t>
            </a:r>
            <a:r>
              <a:rPr sz="2800" dirty="0"/>
              <a:t> NoSQL БД.</a:t>
            </a:r>
          </a:p>
        </p:txBody>
      </p:sp>
      <p:pic>
        <p:nvPicPr>
          <p:cNvPr id="1026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6560" y1="48154" x2="46560" y2="48154"/>
                        <a14:foregroundMark x1="48560" y1="48154" x2="48560" y2="48154"/>
                        <a14:foregroundMark x1="50480" y1="48154" x2="50480" y2="48154"/>
                        <a14:foregroundMark x1="51840" y1="50154" x2="51840" y2="50154"/>
                        <a14:foregroundMark x1="55120" y1="50769" x2="55120" y2="50769"/>
                        <a14:foregroundMark x1="55120" y1="50769" x2="55120" y2="50769"/>
                        <a14:foregroundMark x1="56720" y1="49538" x2="56720" y2="49538"/>
                        <a14:foregroundMark x1="57040" y1="49538" x2="58080" y2="49538"/>
                        <a14:foregroundMark x1="59040" y1="49538" x2="60000" y2="49538"/>
                        <a14:foregroundMark x1="60000" y1="49538" x2="60000" y2="49538"/>
                        <a14:foregroundMark x1="60320" y1="49538" x2="60320" y2="49538"/>
                        <a14:foregroundMark x1="60640" y1="49538" x2="61680" y2="48769"/>
                        <a14:foregroundMark x1="62960" y1="48154" x2="62960" y2="48154"/>
                        <a14:foregroundMark x1="64640" y1="48154" x2="64640" y2="48154"/>
                        <a14:foregroundMark x1="65920" y1="48769" x2="65920" y2="48769"/>
                        <a14:foregroundMark x1="67280" y1="48769" x2="68240" y2="48769"/>
                        <a14:foregroundMark x1="69200" y1="48769" x2="69200" y2="48769"/>
                        <a14:foregroundMark x1="70240" y1="48769" x2="72160" y2="48769"/>
                        <a14:foregroundMark x1="73520" y1="48769" x2="73520" y2="48769"/>
                        <a14:foregroundMark x1="74480" y1="48769" x2="74480" y2="48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9396" y="2423441"/>
            <a:ext cx="5950945" cy="3094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На чём написана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/>
              <a:t>MongoDB </a:t>
            </a:r>
            <a:r>
              <a:rPr sz="2800" dirty="0" err="1"/>
              <a:t>написана</a:t>
            </a:r>
            <a:r>
              <a:rPr sz="2800" dirty="0"/>
              <a:t> </a:t>
            </a:r>
            <a:r>
              <a:rPr sz="2800" dirty="0" err="1"/>
              <a:t>на</a:t>
            </a:r>
            <a:r>
              <a:rPr sz="2800" dirty="0"/>
              <a:t> C++.</a:t>
            </a:r>
          </a:p>
          <a:p>
            <a:r>
              <a:rPr sz="2800" dirty="0" err="1"/>
              <a:t>Драйверы</a:t>
            </a:r>
            <a:r>
              <a:rPr sz="2800" dirty="0"/>
              <a:t> </a:t>
            </a:r>
            <a:r>
              <a:rPr sz="2800" dirty="0" err="1"/>
              <a:t>доступны</a:t>
            </a:r>
            <a:r>
              <a:rPr sz="2800" dirty="0"/>
              <a:t> </a:t>
            </a:r>
            <a:r>
              <a:rPr sz="2800" dirty="0" err="1"/>
              <a:t>почти</a:t>
            </a:r>
            <a:r>
              <a:rPr sz="2800" dirty="0"/>
              <a:t> </a:t>
            </a:r>
            <a:r>
              <a:rPr sz="2800" dirty="0" err="1"/>
              <a:t>для</a:t>
            </a:r>
            <a:r>
              <a:rPr sz="2800" dirty="0"/>
              <a:t> </a:t>
            </a:r>
            <a:r>
              <a:rPr sz="2800" dirty="0" err="1"/>
              <a:t>всех</a:t>
            </a:r>
            <a:r>
              <a:rPr sz="2800" dirty="0"/>
              <a:t> </a:t>
            </a:r>
            <a:r>
              <a:rPr sz="2800" dirty="0" err="1"/>
              <a:t>языков</a:t>
            </a:r>
            <a:r>
              <a:rPr sz="2800" dirty="0"/>
              <a:t>: Python, JavaScript, Java, C#, Go.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56" y="4568379"/>
            <a:ext cx="1849541" cy="1849541"/>
          </a:xfrm>
          <a:prstGeom prst="rect">
            <a:avLst/>
          </a:prstGeom>
        </p:spPr>
      </p:pic>
      <p:pic>
        <p:nvPicPr>
          <p:cNvPr id="2050" name="Picture 2" descr="Picture backgroun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5671" y="4568379"/>
            <a:ext cx="1546116" cy="1739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6200">
                        <a14:foregroundMark x1="29800" y1="37143" x2="29800" y2="37143"/>
                        <a14:foregroundMark x1="32800" y1="43571" x2="32800" y2="43571"/>
                        <a14:foregroundMark x1="33700" y1="51607" x2="33700" y2="51607"/>
                        <a14:foregroundMark x1="66200" y1="46786" x2="66200" y2="46786"/>
                        <a14:foregroundMark x1="76400" y1="48929" x2="76400" y2="48929"/>
                        <a14:foregroundMark x1="73100" y1="39821" x2="73100" y2="39821"/>
                        <a14:foregroundMark x1="74900" y1="44643" x2="74900" y2="44643"/>
                        <a14:foregroundMark x1="73700" y1="45714" x2="73700" y2="45714"/>
                        <a14:foregroundMark x1="96200" y1="54286" x2="96200" y2="54286"/>
                        <a14:foregroundMark x1="62600" y1="62857" x2="62600" y2="62857"/>
                        <a14:foregroundMark x1="65300" y1="58036" x2="65300" y2="58036"/>
                        <a14:foregroundMark x1="59300" y1="55357" x2="60200" y2="56429"/>
                        <a14:foregroundMark x1="60800" y1="59107" x2="60800" y2="59107"/>
                        <a14:foregroundMark x1="59600" y1="62321" x2="59600" y2="62321"/>
                        <a14:foregroundMark x1="60200" y1="62321" x2="60200" y2="62321"/>
                        <a14:foregroundMark x1="60200" y1="60714" x2="60200" y2="60714"/>
                        <a14:foregroundMark x1="62900" y1="57500" x2="62900" y2="57500"/>
                        <a14:foregroundMark x1="63800" y1="57500" x2="65300" y2="57500"/>
                        <a14:foregroundMark x1="69500" y1="59107" x2="69500" y2="59107"/>
                        <a14:foregroundMark x1="70700" y1="60714" x2="70700" y2="60714"/>
                        <a14:foregroundMark x1="69200" y1="67143" x2="69200" y2="67143"/>
                        <a14:foregroundMark x1="65000" y1="67143" x2="65000" y2="67143"/>
                        <a14:foregroundMark x1="64100" y1="66607" x2="64100" y2="66607"/>
                        <a14:foregroundMark x1="65600" y1="42500" x2="65600" y2="44107"/>
                        <a14:foregroundMark x1="63200" y1="45179" x2="63200" y2="45179"/>
                        <a14:foregroundMark x1="62900" y1="45714" x2="62900" y2="45714"/>
                        <a14:foregroundMark x1="65600" y1="42500" x2="65600" y2="42500"/>
                        <a14:foregroundMark x1="60200" y1="80536" x2="60200" y2="80536"/>
                        <a14:foregroundMark x1="59600" y1="68214" x2="59600" y2="68214"/>
                        <a14:foregroundMark x1="59600" y1="68214" x2="59600" y2="68214"/>
                        <a14:foregroundMark x1="59000" y1="67679" x2="59000" y2="67679"/>
                        <a14:foregroundMark x1="58100" y1="59107" x2="58100" y2="59107"/>
                        <a14:foregroundMark x1="58100" y1="59107" x2="58100" y2="59107"/>
                        <a14:foregroundMark x1="67700" y1="48929" x2="67700" y2="48929"/>
                        <a14:foregroundMark x1="67100" y1="46250" x2="67100" y2="4625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81892" y="4623652"/>
            <a:ext cx="3105345" cy="1738993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37093" y="4149130"/>
            <a:ext cx="2465679" cy="246567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устроена 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12250" y="2772378"/>
            <a:ext cx="5937755" cy="3101983"/>
          </a:xfrm>
        </p:spPr>
        <p:txBody>
          <a:bodyPr>
            <a:noAutofit/>
          </a:bodyPr>
          <a:lstStyle/>
          <a:p>
            <a:r>
              <a:rPr sz="3200" dirty="0" err="1"/>
              <a:t>Структура</a:t>
            </a:r>
            <a:r>
              <a:rPr sz="3200" dirty="0"/>
              <a:t>: Database → Collection → Document.</a:t>
            </a:r>
          </a:p>
          <a:p>
            <a:r>
              <a:rPr sz="3200" dirty="0" err="1"/>
              <a:t>Документ</a:t>
            </a:r>
            <a:r>
              <a:rPr sz="3200" dirty="0"/>
              <a:t> </a:t>
            </a:r>
            <a:r>
              <a:rPr lang="ru-RU" sz="3200" dirty="0"/>
              <a:t>-</a:t>
            </a:r>
            <a:r>
              <a:rPr sz="3200" dirty="0"/>
              <a:t> </a:t>
            </a:r>
            <a:r>
              <a:rPr sz="3200" dirty="0"/>
              <a:t>JSON-</a:t>
            </a:r>
            <a:r>
              <a:rPr sz="3200" dirty="0" err="1"/>
              <a:t>подобная</a:t>
            </a:r>
            <a:r>
              <a:rPr sz="3200" dirty="0"/>
              <a:t> </a:t>
            </a:r>
            <a:r>
              <a:rPr sz="3200" dirty="0" err="1"/>
              <a:t>структура</a:t>
            </a:r>
            <a:r>
              <a:rPr sz="3200" dirty="0"/>
              <a:t>.</a:t>
            </a:r>
          </a:p>
          <a:p>
            <a:r>
              <a:rPr sz="3200" dirty="0" err="1"/>
              <a:t>Коллекции</a:t>
            </a:r>
            <a:r>
              <a:rPr sz="3200" dirty="0"/>
              <a:t> </a:t>
            </a:r>
            <a:r>
              <a:rPr lang="ru-RU" sz="3200" dirty="0"/>
              <a:t>-</a:t>
            </a:r>
            <a:r>
              <a:rPr sz="3200" dirty="0"/>
              <a:t> </a:t>
            </a:r>
            <a:r>
              <a:rPr sz="3200" dirty="0" err="1"/>
              <a:t>набор</a:t>
            </a:r>
            <a:r>
              <a:rPr sz="3200" dirty="0"/>
              <a:t> </a:t>
            </a:r>
            <a:r>
              <a:rPr sz="3200" dirty="0" err="1"/>
              <a:t>документов</a:t>
            </a:r>
            <a:r>
              <a:rPr sz="3200" dirty="0"/>
              <a:t>.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005" y="2772378"/>
            <a:ext cx="4129287" cy="365423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Документ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326" y="2556766"/>
            <a:ext cx="5937755" cy="3101983"/>
          </a:xfrm>
        </p:spPr>
        <p:txBody>
          <a:bodyPr>
            <a:noAutofit/>
          </a:bodyPr>
          <a:lstStyle/>
          <a:p>
            <a:r>
              <a:rPr sz="3200" dirty="0" err="1"/>
              <a:t>Документ</a:t>
            </a:r>
            <a:r>
              <a:rPr sz="3200" dirty="0"/>
              <a:t> </a:t>
            </a:r>
            <a:r>
              <a:rPr sz="3200" dirty="0" err="1"/>
              <a:t>содержит</a:t>
            </a:r>
            <a:r>
              <a:rPr sz="3200" dirty="0"/>
              <a:t> </a:t>
            </a:r>
            <a:r>
              <a:rPr sz="3200" dirty="0" err="1"/>
              <a:t>данные</a:t>
            </a:r>
            <a:r>
              <a:rPr sz="3200" dirty="0"/>
              <a:t> в </a:t>
            </a:r>
            <a:r>
              <a:rPr sz="3200" dirty="0" err="1"/>
              <a:t>виде</a:t>
            </a:r>
            <a:r>
              <a:rPr sz="3200" dirty="0"/>
              <a:t> </a:t>
            </a:r>
            <a:r>
              <a:rPr sz="3200" dirty="0" err="1"/>
              <a:t>ключ</a:t>
            </a:r>
            <a:r>
              <a:rPr lang="ru-RU" sz="3200" dirty="0"/>
              <a:t>-</a:t>
            </a:r>
            <a:r>
              <a:rPr sz="3200" dirty="0" err="1"/>
              <a:t>значение</a:t>
            </a:r>
            <a:r>
              <a:rPr sz="3200" dirty="0"/>
              <a:t>.</a:t>
            </a:r>
          </a:p>
          <a:p>
            <a:r>
              <a:rPr sz="3200" dirty="0" err="1"/>
              <a:t>Гибкая</a:t>
            </a:r>
            <a:r>
              <a:rPr sz="3200" dirty="0"/>
              <a:t> </a:t>
            </a:r>
            <a:r>
              <a:rPr sz="3200" dirty="0" err="1"/>
              <a:t>схема</a:t>
            </a:r>
            <a:r>
              <a:rPr sz="3200" dirty="0"/>
              <a:t>: </a:t>
            </a:r>
            <a:r>
              <a:rPr sz="3200" dirty="0" err="1"/>
              <a:t>документы</a:t>
            </a:r>
            <a:r>
              <a:rPr sz="3200" dirty="0"/>
              <a:t> в </a:t>
            </a:r>
            <a:r>
              <a:rPr sz="3200" dirty="0" err="1"/>
              <a:t>коллекции</a:t>
            </a:r>
            <a:r>
              <a:rPr sz="3200" dirty="0"/>
              <a:t> </a:t>
            </a:r>
            <a:r>
              <a:rPr sz="3200" dirty="0" err="1"/>
              <a:t>могут</a:t>
            </a:r>
            <a:r>
              <a:rPr sz="3200" dirty="0"/>
              <a:t> </a:t>
            </a:r>
            <a:r>
              <a:rPr sz="3200" dirty="0" err="1"/>
              <a:t>отличаться</a:t>
            </a:r>
            <a:r>
              <a:rPr sz="3200" dirty="0"/>
              <a:t>.</a:t>
            </a:r>
          </a:p>
          <a:p>
            <a:r>
              <a:rPr sz="3200" dirty="0" err="1"/>
              <a:t>Пример</a:t>
            </a:r>
            <a:r>
              <a:rPr sz="3200" dirty="0"/>
              <a:t>: { name: '</a:t>
            </a:r>
            <a:r>
              <a:rPr sz="3200" dirty="0" err="1"/>
              <a:t>Aндрей</a:t>
            </a:r>
            <a:r>
              <a:rPr sz="3200" dirty="0"/>
              <a:t>', skills: [...] }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Коллекции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4032" y="2670717"/>
            <a:ext cx="5363715" cy="3101983"/>
          </a:xfrm>
        </p:spPr>
        <p:txBody>
          <a:bodyPr>
            <a:normAutofit/>
          </a:bodyPr>
          <a:lstStyle/>
          <a:p>
            <a:r>
              <a:rPr sz="3200" dirty="0" err="1"/>
              <a:t>Коллекция</a:t>
            </a:r>
            <a:r>
              <a:rPr sz="3200" dirty="0"/>
              <a:t> </a:t>
            </a:r>
            <a:r>
              <a:rPr lang="ru-RU" sz="3200" dirty="0"/>
              <a:t>-</a:t>
            </a:r>
            <a:r>
              <a:rPr sz="3200" dirty="0"/>
              <a:t> </a:t>
            </a:r>
            <a:r>
              <a:rPr sz="3200" dirty="0" err="1"/>
              <a:t>аналог</a:t>
            </a:r>
            <a:r>
              <a:rPr sz="3200" dirty="0"/>
              <a:t> </a:t>
            </a:r>
            <a:r>
              <a:rPr sz="3200" dirty="0" err="1"/>
              <a:t>папки</a:t>
            </a:r>
            <a:r>
              <a:rPr sz="3200" dirty="0"/>
              <a:t> с </a:t>
            </a:r>
            <a:r>
              <a:rPr sz="3200" dirty="0" err="1"/>
              <a:t>данными</a:t>
            </a:r>
            <a:r>
              <a:rPr sz="3200" dirty="0"/>
              <a:t>.</a:t>
            </a:r>
          </a:p>
          <a:p>
            <a:r>
              <a:rPr sz="3200" dirty="0" err="1"/>
              <a:t>Не</a:t>
            </a:r>
            <a:r>
              <a:rPr sz="3200" dirty="0"/>
              <a:t> </a:t>
            </a:r>
            <a:r>
              <a:rPr sz="3200" dirty="0" err="1"/>
              <a:t>требует</a:t>
            </a:r>
            <a:r>
              <a:rPr sz="3200" dirty="0"/>
              <a:t> </a:t>
            </a:r>
            <a:r>
              <a:rPr sz="3200" dirty="0" err="1"/>
              <a:t>строгой</a:t>
            </a:r>
            <a:r>
              <a:rPr sz="3200" dirty="0"/>
              <a:t> </a:t>
            </a:r>
            <a:r>
              <a:rPr sz="3200" dirty="0" err="1"/>
              <a:t>схемы</a:t>
            </a:r>
            <a:r>
              <a:rPr sz="3200" dirty="0"/>
              <a:t>.</a:t>
            </a:r>
          </a:p>
          <a:p>
            <a:r>
              <a:rPr sz="3200" dirty="0" err="1"/>
              <a:t>Удобно</a:t>
            </a:r>
            <a:r>
              <a:rPr sz="3200" dirty="0"/>
              <a:t> </a:t>
            </a:r>
            <a:r>
              <a:rPr sz="3200" dirty="0" err="1"/>
              <a:t>для</a:t>
            </a:r>
            <a:r>
              <a:rPr sz="3200" dirty="0"/>
              <a:t> </a:t>
            </a:r>
            <a:r>
              <a:rPr sz="3200" dirty="0" err="1"/>
              <a:t>данных</a:t>
            </a:r>
            <a:r>
              <a:rPr sz="3200" dirty="0"/>
              <a:t>, </a:t>
            </a:r>
            <a:r>
              <a:rPr sz="3200" dirty="0" err="1"/>
              <a:t>которые</a:t>
            </a:r>
            <a:r>
              <a:rPr sz="3200" dirty="0"/>
              <a:t> </a:t>
            </a:r>
            <a:r>
              <a:rPr sz="3200" dirty="0" err="1"/>
              <a:t>часто</a:t>
            </a:r>
            <a:r>
              <a:rPr sz="3200" dirty="0"/>
              <a:t> </a:t>
            </a:r>
            <a:r>
              <a:rPr sz="3200" dirty="0" err="1"/>
              <a:t>меняются</a:t>
            </a:r>
            <a:r>
              <a:rPr sz="3200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l="21807" t="4696" r="18614" b="20249"/>
          <a:stretch/>
        </p:blipFill>
        <p:spPr>
          <a:xfrm>
            <a:off x="7550624" y="2664970"/>
            <a:ext cx="4084649" cy="28944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Масштабирование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44161" y="2624330"/>
            <a:ext cx="5191760" cy="3298950"/>
          </a:xfrm>
        </p:spPr>
        <p:txBody>
          <a:bodyPr>
            <a:normAutofit/>
          </a:bodyPr>
          <a:lstStyle/>
          <a:p>
            <a:r>
              <a:rPr sz="3200" dirty="0" err="1"/>
              <a:t>Поддержка</a:t>
            </a:r>
            <a:r>
              <a:rPr sz="3200" dirty="0"/>
              <a:t> </a:t>
            </a:r>
            <a:r>
              <a:rPr sz="3200" dirty="0" err="1"/>
              <a:t>шардирования</a:t>
            </a:r>
            <a:r>
              <a:rPr sz="3200" dirty="0"/>
              <a:t>.</a:t>
            </a:r>
          </a:p>
          <a:p>
            <a:r>
              <a:rPr sz="3200" dirty="0" err="1"/>
              <a:t>Данные</a:t>
            </a:r>
            <a:r>
              <a:rPr sz="3200" dirty="0"/>
              <a:t> </a:t>
            </a:r>
            <a:r>
              <a:rPr sz="3200" dirty="0" err="1"/>
              <a:t>распределяются</a:t>
            </a:r>
            <a:r>
              <a:rPr sz="3200" dirty="0"/>
              <a:t> </a:t>
            </a:r>
            <a:r>
              <a:rPr sz="3200" dirty="0" err="1"/>
              <a:t>по</a:t>
            </a:r>
            <a:r>
              <a:rPr sz="3200" dirty="0"/>
              <a:t> </a:t>
            </a:r>
            <a:r>
              <a:rPr sz="3200" dirty="0" err="1"/>
              <a:t>серверам</a:t>
            </a:r>
            <a:r>
              <a:rPr sz="3200" dirty="0"/>
              <a:t>.</a:t>
            </a:r>
          </a:p>
          <a:p>
            <a:r>
              <a:rPr sz="3200" dirty="0" err="1"/>
              <a:t>Автоматическая</a:t>
            </a:r>
            <a:r>
              <a:rPr sz="3200" dirty="0"/>
              <a:t> </a:t>
            </a:r>
            <a:r>
              <a:rPr sz="3200" dirty="0" err="1"/>
              <a:t>балансировка</a:t>
            </a:r>
            <a:r>
              <a:rPr sz="3200" dirty="0"/>
              <a:t> </a:t>
            </a:r>
            <a:r>
              <a:rPr sz="3200" dirty="0" err="1"/>
              <a:t>нагрузки</a:t>
            </a:r>
            <a:r>
              <a:rPr sz="3200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r="52539"/>
          <a:stretch/>
        </p:blipFill>
        <p:spPr>
          <a:xfrm>
            <a:off x="1453605" y="2624330"/>
            <a:ext cx="2662024" cy="30635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Отказоустойчивость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7666" y="2465326"/>
            <a:ext cx="5303936" cy="4087875"/>
          </a:xfrm>
        </p:spPr>
        <p:txBody>
          <a:bodyPr>
            <a:noAutofit/>
          </a:bodyPr>
          <a:lstStyle/>
          <a:p>
            <a:r>
              <a:rPr sz="3200" dirty="0"/>
              <a:t>Replica Set </a:t>
            </a:r>
            <a:r>
              <a:rPr lang="ru-RU" sz="3200" dirty="0"/>
              <a:t>-</a:t>
            </a:r>
            <a:r>
              <a:rPr sz="3200" dirty="0"/>
              <a:t> </a:t>
            </a:r>
            <a:r>
              <a:rPr sz="3200" dirty="0" err="1"/>
              <a:t>несколько</a:t>
            </a:r>
            <a:r>
              <a:rPr sz="3200" dirty="0"/>
              <a:t> </a:t>
            </a:r>
            <a:r>
              <a:rPr sz="3200" dirty="0" err="1"/>
              <a:t>копий</a:t>
            </a:r>
            <a:r>
              <a:rPr sz="3200" dirty="0"/>
              <a:t> </a:t>
            </a:r>
            <a:r>
              <a:rPr sz="3200" dirty="0" err="1"/>
              <a:t>данных</a:t>
            </a:r>
            <a:r>
              <a:rPr sz="3200" dirty="0"/>
              <a:t>.</a:t>
            </a:r>
          </a:p>
          <a:p>
            <a:r>
              <a:rPr sz="3200" dirty="0" err="1"/>
              <a:t>Если</a:t>
            </a:r>
            <a:r>
              <a:rPr sz="3200" dirty="0"/>
              <a:t> </a:t>
            </a:r>
            <a:r>
              <a:rPr sz="3200" dirty="0" err="1"/>
              <a:t>один</a:t>
            </a:r>
            <a:r>
              <a:rPr sz="3200" dirty="0"/>
              <a:t> </a:t>
            </a:r>
            <a:r>
              <a:rPr sz="3200" dirty="0" err="1"/>
              <a:t>сервер</a:t>
            </a:r>
            <a:r>
              <a:rPr sz="3200" dirty="0"/>
              <a:t> </a:t>
            </a:r>
            <a:r>
              <a:rPr sz="3200" dirty="0" err="1"/>
              <a:t>выходит</a:t>
            </a:r>
            <a:r>
              <a:rPr sz="3200" dirty="0"/>
              <a:t> </a:t>
            </a:r>
            <a:r>
              <a:rPr sz="3200" dirty="0" err="1"/>
              <a:t>из</a:t>
            </a:r>
            <a:r>
              <a:rPr sz="3200" dirty="0"/>
              <a:t> </a:t>
            </a:r>
            <a:r>
              <a:rPr sz="3200" dirty="0" err="1"/>
              <a:t>строя</a:t>
            </a:r>
            <a:r>
              <a:rPr sz="3200" dirty="0"/>
              <a:t> </a:t>
            </a:r>
            <a:r>
              <a:rPr lang="ru-RU" sz="3200" dirty="0"/>
              <a:t>-</a:t>
            </a:r>
            <a:r>
              <a:rPr sz="3200" dirty="0"/>
              <a:t> </a:t>
            </a:r>
            <a:r>
              <a:rPr sz="3200" dirty="0" err="1"/>
              <a:t>другой</a:t>
            </a:r>
            <a:r>
              <a:rPr sz="3200" dirty="0"/>
              <a:t> </a:t>
            </a:r>
            <a:r>
              <a:rPr sz="3200" dirty="0" err="1"/>
              <a:t>становится</a:t>
            </a:r>
            <a:r>
              <a:rPr sz="3200" dirty="0"/>
              <a:t> </a:t>
            </a:r>
            <a:r>
              <a:rPr sz="3200" dirty="0" err="1"/>
              <a:t>главным</a:t>
            </a:r>
            <a:r>
              <a:rPr sz="3200" dirty="0"/>
              <a:t>.</a:t>
            </a:r>
          </a:p>
          <a:p>
            <a:r>
              <a:rPr sz="3200" dirty="0" err="1"/>
              <a:t>Высокая</a:t>
            </a:r>
            <a:r>
              <a:rPr sz="3200" dirty="0"/>
              <a:t> </a:t>
            </a:r>
            <a:r>
              <a:rPr sz="3200" dirty="0" err="1"/>
              <a:t>доступность</a:t>
            </a:r>
            <a:r>
              <a:rPr sz="3200" dirty="0"/>
              <a:t> </a:t>
            </a:r>
            <a:r>
              <a:rPr sz="3200" dirty="0" err="1"/>
              <a:t>системы</a:t>
            </a:r>
            <a:r>
              <a:rPr sz="3200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/>
          <a:srcRect b="9198"/>
          <a:stretch/>
        </p:blipFill>
        <p:spPr>
          <a:xfrm>
            <a:off x="6451602" y="2605285"/>
            <a:ext cx="5017914" cy="30397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 smtClean="0"/>
              <a:t>Основн</a:t>
            </a:r>
            <a:r>
              <a:rPr lang="ru-RU" dirty="0" err="1" smtClean="0"/>
              <a:t>ые</a:t>
            </a:r>
            <a:r>
              <a:rPr dirty="0" smtClean="0"/>
              <a:t> </a:t>
            </a:r>
            <a:r>
              <a:rPr dirty="0" err="1" smtClean="0"/>
              <a:t>задач</a:t>
            </a:r>
            <a:r>
              <a:rPr lang="ru-RU" dirty="0" smtClean="0"/>
              <a:t>и</a:t>
            </a:r>
            <a:r>
              <a:rPr dirty="0" smtClean="0"/>
              <a:t> </a:t>
            </a:r>
            <a:r>
              <a:rPr dirty="0"/>
              <a:t>MongoDB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 err="1"/>
              <a:t>Гибкое</a:t>
            </a:r>
            <a:r>
              <a:rPr sz="3200" dirty="0"/>
              <a:t> </a:t>
            </a:r>
            <a:r>
              <a:rPr sz="3200" dirty="0" err="1"/>
              <a:t>хранение</a:t>
            </a:r>
            <a:r>
              <a:rPr sz="3200" dirty="0"/>
              <a:t> </a:t>
            </a:r>
            <a:r>
              <a:rPr sz="3200" dirty="0" err="1"/>
              <a:t>данных</a:t>
            </a:r>
            <a:r>
              <a:rPr sz="3200" dirty="0"/>
              <a:t>.</a:t>
            </a:r>
          </a:p>
          <a:p>
            <a:r>
              <a:rPr sz="3200" dirty="0" err="1"/>
              <a:t>Высокая</a:t>
            </a:r>
            <a:r>
              <a:rPr sz="3200" dirty="0"/>
              <a:t> </a:t>
            </a:r>
            <a:r>
              <a:rPr sz="3200" dirty="0" err="1"/>
              <a:t>скорость</a:t>
            </a:r>
            <a:r>
              <a:rPr sz="3200" dirty="0"/>
              <a:t> </a:t>
            </a:r>
            <a:r>
              <a:rPr sz="3200" dirty="0" err="1"/>
              <a:t>записи</a:t>
            </a:r>
            <a:r>
              <a:rPr sz="3200" dirty="0"/>
              <a:t> и </a:t>
            </a:r>
            <a:r>
              <a:rPr sz="3200" dirty="0" err="1"/>
              <a:t>чтения</a:t>
            </a:r>
            <a:r>
              <a:rPr sz="3200" dirty="0"/>
              <a:t>.</a:t>
            </a:r>
          </a:p>
          <a:p>
            <a:r>
              <a:rPr sz="3200" dirty="0" err="1"/>
              <a:t>Горизонтальное</a:t>
            </a:r>
            <a:r>
              <a:rPr sz="3200" dirty="0"/>
              <a:t> </a:t>
            </a:r>
            <a:r>
              <a:rPr sz="3200" dirty="0" err="1"/>
              <a:t>масштабирование</a:t>
            </a:r>
            <a:r>
              <a:rPr sz="3200" dirty="0"/>
              <a:t>.</a:t>
            </a:r>
          </a:p>
          <a:p>
            <a:r>
              <a:rPr sz="3200" dirty="0" err="1"/>
              <a:t>Работа</a:t>
            </a:r>
            <a:r>
              <a:rPr sz="3200" dirty="0"/>
              <a:t> с </a:t>
            </a:r>
            <a:r>
              <a:rPr sz="3200" dirty="0" err="1"/>
              <a:t>большими</a:t>
            </a:r>
            <a:r>
              <a:rPr sz="3200" dirty="0"/>
              <a:t> </a:t>
            </a:r>
            <a:r>
              <a:rPr sz="3200" dirty="0" err="1"/>
              <a:t>объёмами</a:t>
            </a:r>
            <a:r>
              <a:rPr sz="3200" dirty="0"/>
              <a:t> </a:t>
            </a:r>
            <a:r>
              <a:rPr sz="3200" dirty="0" err="1"/>
              <a:t>данных</a:t>
            </a:r>
            <a:r>
              <a:rPr sz="32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Применение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1166" y="2634490"/>
            <a:ext cx="4896355" cy="3502150"/>
          </a:xfrm>
        </p:spPr>
        <p:txBody>
          <a:bodyPr>
            <a:normAutofit/>
          </a:bodyPr>
          <a:lstStyle/>
          <a:p>
            <a:r>
              <a:rPr sz="3200" dirty="0" err="1"/>
              <a:t>Веб-приложения</a:t>
            </a:r>
            <a:r>
              <a:rPr sz="3200" dirty="0"/>
              <a:t>, </a:t>
            </a:r>
            <a:r>
              <a:rPr sz="3200" dirty="0" err="1"/>
              <a:t>мобильные</a:t>
            </a:r>
            <a:r>
              <a:rPr sz="3200" dirty="0"/>
              <a:t> </a:t>
            </a:r>
            <a:r>
              <a:rPr sz="3200" dirty="0" err="1"/>
              <a:t>приложения</a:t>
            </a:r>
            <a:r>
              <a:rPr sz="3200" dirty="0"/>
              <a:t>.</a:t>
            </a:r>
          </a:p>
          <a:p>
            <a:r>
              <a:rPr sz="3200" dirty="0" err="1"/>
              <a:t>Интернет-магазины</a:t>
            </a:r>
            <a:r>
              <a:rPr sz="3200" dirty="0"/>
              <a:t>.</a:t>
            </a:r>
          </a:p>
          <a:p>
            <a:r>
              <a:rPr sz="3200" dirty="0" err="1"/>
              <a:t>Игры</a:t>
            </a:r>
            <a:r>
              <a:rPr sz="3200" dirty="0"/>
              <a:t>, </a:t>
            </a:r>
            <a:r>
              <a:rPr sz="3200" dirty="0" err="1"/>
              <a:t>IoT</a:t>
            </a:r>
            <a:r>
              <a:rPr sz="3200" dirty="0"/>
              <a:t>, </a:t>
            </a:r>
            <a:r>
              <a:rPr sz="3200" dirty="0" err="1"/>
              <a:t>логирование</a:t>
            </a:r>
            <a:r>
              <a:rPr sz="3200" dirty="0"/>
              <a:t>.</a:t>
            </a:r>
          </a:p>
          <a:p>
            <a:r>
              <a:rPr sz="3200" dirty="0" err="1"/>
              <a:t>Системы</a:t>
            </a:r>
            <a:r>
              <a:rPr sz="3200" dirty="0"/>
              <a:t> </a:t>
            </a:r>
            <a:r>
              <a:rPr sz="3200" dirty="0" err="1"/>
              <a:t>аналитики</a:t>
            </a:r>
            <a:r>
              <a:rPr sz="3200" dirty="0"/>
              <a:t>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4985" b="85092" l="16591" r="85382">
                        <a14:foregroundMark x1="48333" y1="77558" x2="48333" y2="77558"/>
                        <a14:foregroundMark x1="43542" y1="77888" x2="43542" y2="77888"/>
                        <a14:foregroundMark x1="36042" y1="79208" x2="36042" y2="79208"/>
                        <a14:foregroundMark x1="36042" y1="79208" x2="36042" y2="79208"/>
                        <a14:foregroundMark x1="37292" y1="78548" x2="38333" y2="78548"/>
                        <a14:foregroundMark x1="39583" y1="78548" x2="40625" y2="78548"/>
                        <a14:foregroundMark x1="44167" y1="78548" x2="46042" y2="78548"/>
                        <a14:foregroundMark x1="46042" y1="78548" x2="47292" y2="78548"/>
                        <a14:foregroundMark x1="52917" y1="77888" x2="52917" y2="77888"/>
                        <a14:foregroundMark x1="54792" y1="77888" x2="57500" y2="77888"/>
                        <a14:foregroundMark x1="57917" y1="77888" x2="59583" y2="77888"/>
                        <a14:foregroundMark x1="59792" y1="77888" x2="64167" y2="77888"/>
                        <a14:foregroundMark x1="70208" y1="78878" x2="70208" y2="78878"/>
                        <a14:foregroundMark x1="70208" y1="78878" x2="70208" y2="78878"/>
                        <a14:foregroundMark x1="64375" y1="76898" x2="64375" y2="76898"/>
                        <a14:foregroundMark x1="66250" y1="77888" x2="66250" y2="77888"/>
                        <a14:foregroundMark x1="66458" y1="76898" x2="66458" y2="76898"/>
                        <a14:foregroundMark x1="32292" y1="77558" x2="32292" y2="77558"/>
                        <a14:foregroundMark x1="31250" y1="77888" x2="31250" y2="77888"/>
                        <a14:foregroundMark x1="33125" y1="78878" x2="33125" y2="78878"/>
                        <a14:foregroundMark x1="33125" y1="78878" x2="33125" y2="78878"/>
                        <a14:foregroundMark x1="59375" y1="80528" x2="59375" y2="80528"/>
                        <a14:foregroundMark x1="57500" y1="79208" x2="56458" y2="79208"/>
                        <a14:foregroundMark x1="53750" y1="77888" x2="53750" y2="77888"/>
                        <a14:foregroundMark x1="53750" y1="77888" x2="53750" y2="77888"/>
                        <a14:foregroundMark x1="53750" y1="77888" x2="54792" y2="77888"/>
                        <a14:foregroundMark x1="60208" y1="77888" x2="60208" y2="77888"/>
                        <a14:foregroundMark x1="60417" y1="77888" x2="60417" y2="77888"/>
                        <a14:foregroundMark x1="61250" y1="77888" x2="62500" y2="78878"/>
                        <a14:foregroundMark x1="63125" y1="77888" x2="63958" y2="77888"/>
                        <a14:foregroundMark x1="64375" y1="77888" x2="64375" y2="77888"/>
                        <a14:foregroundMark x1="65833" y1="77888" x2="67292" y2="77888"/>
                        <a14:foregroundMark x1="67917" y1="77888" x2="67917" y2="77888"/>
                        <a14:foregroundMark x1="69375" y1="77888" x2="70208" y2="77888"/>
                        <a14:foregroundMark x1="71667" y1="77888" x2="71667" y2="77888"/>
                        <a14:foregroundMark x1="72708" y1="79208" x2="72708" y2="79208"/>
                        <a14:foregroundMark x1="72708" y1="79208" x2="72708" y2="79208"/>
                        <a14:foregroundMark x1="34167" y1="80198" x2="34167" y2="80198"/>
                        <a14:foregroundMark x1="36667" y1="79868" x2="37500" y2="79208"/>
                        <a14:foregroundMark x1="37500" y1="79208" x2="37500" y2="79208"/>
                        <a14:foregroundMark x1="38333" y1="78548" x2="39583" y2="78878"/>
                        <a14:foregroundMark x1="39583" y1="78878" x2="41458" y2="78548"/>
                        <a14:foregroundMark x1="45208" y1="77888" x2="45208" y2="77888"/>
                        <a14:foregroundMark x1="45208" y1="76898" x2="45208" y2="76898"/>
                        <a14:foregroundMark x1="45208" y1="76898" x2="43542" y2="76898"/>
                        <a14:foregroundMark x1="38958" y1="76898" x2="38958" y2="76898"/>
                        <a14:foregroundMark x1="41250" y1="77888" x2="42083" y2="77888"/>
                        <a14:foregroundMark x1="45000" y1="78878" x2="45833" y2="78878"/>
                        <a14:foregroundMark x1="45833" y1="78878" x2="47917" y2="78878"/>
                        <a14:foregroundMark x1="47917" y1="78878" x2="47917" y2="78878"/>
                        <a14:foregroundMark x1="48958" y1="78878" x2="51042" y2="78548"/>
                        <a14:foregroundMark x1="52917" y1="78548" x2="52917" y2="78548"/>
                        <a14:foregroundMark x1="54792" y1="78548" x2="55833" y2="78878"/>
                        <a14:foregroundMark x1="57917" y1="78878" x2="60417" y2="78878"/>
                        <a14:foregroundMark x1="60833" y1="78548" x2="61667" y2="78548"/>
                        <a14:foregroundMark x1="61667" y1="78548" x2="62708" y2="78878"/>
                        <a14:foregroundMark x1="63542" y1="78878" x2="64792" y2="78878"/>
                        <a14:foregroundMark x1="67708" y1="78878" x2="68542" y2="79208"/>
                        <a14:foregroundMark x1="68542" y1="79208" x2="68542" y2="79208"/>
                        <a14:foregroundMark x1="69375" y1="79208" x2="69375" y2="79208"/>
                        <a14:foregroundMark x1="70208" y1="79208" x2="70208" y2="79208"/>
                        <a14:foregroundMark x1="51250" y1="80528" x2="51250" y2="80528"/>
                        <a14:foregroundMark x1="50417" y1="80528" x2="50417" y2="80528"/>
                        <a14:foregroundMark x1="50208" y1="80198" x2="50208" y2="80198"/>
                        <a14:foregroundMark x1="49583" y1="80198" x2="49583" y2="80198"/>
                        <a14:foregroundMark x1="48333" y1="78878" x2="48333" y2="78878"/>
                        <a14:foregroundMark x1="48750" y1="78878" x2="48750" y2="78878"/>
                        <a14:foregroundMark x1="51458" y1="78548" x2="51458" y2="78548"/>
                        <a14:foregroundMark x1="51875" y1="78548" x2="51875" y2="78548"/>
                        <a14:foregroundMark x1="51875" y1="77558" x2="51875" y2="77558"/>
                        <a14:foregroundMark x1="55000" y1="82178" x2="55000" y2="82178"/>
                      </a14:backgroundRemoval>
                    </a14:imgEffect>
                  </a14:imgLayer>
                </a14:imgProps>
              </a:ext>
            </a:extLst>
          </a:blip>
          <a:srcRect l="7992" t="6221" r="6019" b="6144"/>
          <a:stretch/>
        </p:blipFill>
        <p:spPr>
          <a:xfrm>
            <a:off x="6952170" y="2517984"/>
            <a:ext cx="2705037" cy="1740242"/>
          </a:xfrm>
          <a:prstGeom prst="rect">
            <a:avLst/>
          </a:prstGeom>
        </p:spPr>
      </p:pic>
      <p:pic>
        <p:nvPicPr>
          <p:cNvPr id="3074" name="Picture 2" descr="Picture backgroun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03028" y="3662468"/>
            <a:ext cx="1906424" cy="11915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8120" y="4842124"/>
            <a:ext cx="1453137" cy="14531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Пример задачи: интернет-магазин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800" dirty="0" err="1"/>
              <a:t>Хранение</a:t>
            </a:r>
            <a:r>
              <a:rPr sz="2800" dirty="0"/>
              <a:t> </a:t>
            </a:r>
            <a:r>
              <a:rPr sz="2800" dirty="0" err="1"/>
              <a:t>товаров</a:t>
            </a:r>
            <a:r>
              <a:rPr sz="2800" dirty="0"/>
              <a:t>, </a:t>
            </a:r>
            <a:r>
              <a:rPr sz="2800" dirty="0" err="1"/>
              <a:t>заказов</a:t>
            </a:r>
            <a:r>
              <a:rPr sz="2800" dirty="0"/>
              <a:t>, </a:t>
            </a:r>
            <a:r>
              <a:rPr sz="2800" dirty="0" err="1"/>
              <a:t>пользователей</a:t>
            </a:r>
            <a:r>
              <a:rPr sz="2800" dirty="0"/>
              <a:t>.</a:t>
            </a:r>
          </a:p>
          <a:p>
            <a:r>
              <a:rPr sz="2800" dirty="0" err="1"/>
              <a:t>Разные</a:t>
            </a:r>
            <a:r>
              <a:rPr sz="2800" dirty="0"/>
              <a:t> </a:t>
            </a:r>
            <a:r>
              <a:rPr sz="2800" dirty="0" err="1"/>
              <a:t>характеристики</a:t>
            </a:r>
            <a:r>
              <a:rPr sz="2800" dirty="0"/>
              <a:t> </a:t>
            </a:r>
            <a:r>
              <a:rPr sz="2800" dirty="0" err="1"/>
              <a:t>товара</a:t>
            </a:r>
            <a:r>
              <a:rPr sz="2800" dirty="0"/>
              <a:t>.</a:t>
            </a:r>
          </a:p>
          <a:p>
            <a:r>
              <a:rPr sz="2800" dirty="0" err="1"/>
              <a:t>Гибкие</a:t>
            </a:r>
            <a:r>
              <a:rPr sz="2800" dirty="0"/>
              <a:t> </a:t>
            </a:r>
            <a:r>
              <a:rPr sz="2800" dirty="0" err="1"/>
              <a:t>документы</a:t>
            </a:r>
            <a:r>
              <a:rPr sz="2800" dirty="0"/>
              <a:t>.</a:t>
            </a:r>
          </a:p>
          <a:p>
            <a:r>
              <a:rPr sz="2800" dirty="0" err="1"/>
              <a:t>Быстрый</a:t>
            </a:r>
            <a:r>
              <a:rPr sz="2800" dirty="0"/>
              <a:t> </a:t>
            </a:r>
            <a:r>
              <a:rPr sz="2800" dirty="0" err="1"/>
              <a:t>поиск</a:t>
            </a:r>
            <a:r>
              <a:rPr sz="28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Пример задачи: логирование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 err="1"/>
              <a:t>Миллионы</a:t>
            </a:r>
            <a:r>
              <a:rPr sz="3200" dirty="0"/>
              <a:t> </a:t>
            </a:r>
            <a:r>
              <a:rPr sz="3200" dirty="0" err="1"/>
              <a:t>записей</a:t>
            </a:r>
            <a:r>
              <a:rPr sz="3200" dirty="0"/>
              <a:t> в </a:t>
            </a:r>
            <a:r>
              <a:rPr sz="3200" dirty="0" err="1"/>
              <a:t>минуту</a:t>
            </a:r>
            <a:r>
              <a:rPr sz="3200" dirty="0"/>
              <a:t>.</a:t>
            </a:r>
          </a:p>
          <a:p>
            <a:r>
              <a:rPr sz="3200" dirty="0" err="1"/>
              <a:t>Гибкая</a:t>
            </a:r>
            <a:r>
              <a:rPr sz="3200" dirty="0"/>
              <a:t> </a:t>
            </a:r>
            <a:r>
              <a:rPr sz="3200" dirty="0" err="1"/>
              <a:t>структура</a:t>
            </a:r>
            <a:r>
              <a:rPr sz="3200" dirty="0"/>
              <a:t>.</a:t>
            </a:r>
          </a:p>
          <a:p>
            <a:r>
              <a:rPr sz="3200" dirty="0" err="1"/>
              <a:t>Индексы</a:t>
            </a:r>
            <a:r>
              <a:rPr sz="3200" dirty="0"/>
              <a:t> </a:t>
            </a:r>
            <a:r>
              <a:rPr sz="3200" dirty="0" err="1"/>
              <a:t>обеспечивают</a:t>
            </a:r>
            <a:r>
              <a:rPr sz="3200" dirty="0"/>
              <a:t> </a:t>
            </a:r>
            <a:r>
              <a:rPr sz="3200" dirty="0" err="1"/>
              <a:t>быстрый</a:t>
            </a:r>
            <a:r>
              <a:rPr sz="3200" dirty="0"/>
              <a:t> </a:t>
            </a:r>
            <a:r>
              <a:rPr sz="3200" dirty="0" err="1"/>
              <a:t>поиск</a:t>
            </a:r>
            <a:r>
              <a:rPr sz="32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Пример задачи: мобильное приложение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 err="1"/>
              <a:t>Профили</a:t>
            </a:r>
            <a:r>
              <a:rPr sz="3200" dirty="0"/>
              <a:t> </a:t>
            </a:r>
            <a:r>
              <a:rPr sz="3200" dirty="0" err="1"/>
              <a:t>пользователей</a:t>
            </a:r>
            <a:r>
              <a:rPr sz="3200" dirty="0"/>
              <a:t>.</a:t>
            </a:r>
          </a:p>
          <a:p>
            <a:r>
              <a:rPr sz="3200" dirty="0" err="1"/>
              <a:t>Друзья</a:t>
            </a:r>
            <a:r>
              <a:rPr sz="3200" dirty="0"/>
              <a:t>, </a:t>
            </a:r>
            <a:r>
              <a:rPr sz="3200" dirty="0" err="1"/>
              <a:t>настройки</a:t>
            </a:r>
            <a:r>
              <a:rPr sz="3200" dirty="0"/>
              <a:t>, </a:t>
            </a:r>
            <a:r>
              <a:rPr sz="3200" dirty="0" err="1"/>
              <a:t>посты</a:t>
            </a:r>
            <a:r>
              <a:rPr sz="3200" dirty="0"/>
              <a:t> — </a:t>
            </a:r>
            <a:r>
              <a:rPr sz="3200" dirty="0" err="1"/>
              <a:t>всё</a:t>
            </a:r>
            <a:r>
              <a:rPr sz="3200" dirty="0"/>
              <a:t> в </a:t>
            </a:r>
            <a:r>
              <a:rPr sz="3200" dirty="0" err="1"/>
              <a:t>одном</a:t>
            </a:r>
            <a:r>
              <a:rPr sz="3200" dirty="0"/>
              <a:t> </a:t>
            </a:r>
            <a:r>
              <a:rPr sz="3200" dirty="0" err="1"/>
              <a:t>документе</a:t>
            </a:r>
            <a:r>
              <a:rPr sz="3200" dirty="0"/>
              <a:t>.</a:t>
            </a:r>
          </a:p>
          <a:p>
            <a:r>
              <a:rPr sz="3200" dirty="0" err="1"/>
              <a:t>Удобно</a:t>
            </a:r>
            <a:r>
              <a:rPr sz="3200" dirty="0"/>
              <a:t> и </a:t>
            </a:r>
            <a:r>
              <a:rPr sz="3200" dirty="0" err="1"/>
              <a:t>эффективно</a:t>
            </a:r>
            <a:r>
              <a:rPr sz="32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Преимущества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 err="1"/>
              <a:t>Гибкость</a:t>
            </a:r>
            <a:r>
              <a:rPr sz="3200" dirty="0"/>
              <a:t>.</a:t>
            </a:r>
          </a:p>
          <a:p>
            <a:r>
              <a:rPr sz="3200" dirty="0" err="1"/>
              <a:t>Быстрота</a:t>
            </a:r>
            <a:r>
              <a:rPr sz="3200" dirty="0"/>
              <a:t>.</a:t>
            </a:r>
          </a:p>
          <a:p>
            <a:r>
              <a:rPr sz="3200" dirty="0" err="1"/>
              <a:t>Масштабируемость</a:t>
            </a:r>
            <a:r>
              <a:rPr sz="3200" dirty="0"/>
              <a:t>.</a:t>
            </a:r>
          </a:p>
          <a:p>
            <a:r>
              <a:rPr sz="3200" dirty="0" err="1"/>
              <a:t>Отказоустойчивость</a:t>
            </a:r>
            <a:r>
              <a:rPr sz="3200" dirty="0"/>
              <a:t>.</a:t>
            </a:r>
          </a:p>
          <a:p>
            <a:r>
              <a:rPr sz="3200" dirty="0" err="1"/>
              <a:t>Простота</a:t>
            </a:r>
            <a:r>
              <a:rPr sz="3200" dirty="0"/>
              <a:t> </a:t>
            </a:r>
            <a:r>
              <a:rPr sz="3200" dirty="0" err="1"/>
              <a:t>интеграции</a:t>
            </a:r>
            <a:r>
              <a:rPr sz="32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3200" dirty="0"/>
              <a:t>MongoDB — </a:t>
            </a:r>
            <a:r>
              <a:rPr sz="3200" dirty="0" err="1"/>
              <a:t>современная</a:t>
            </a:r>
            <a:r>
              <a:rPr sz="3200" dirty="0"/>
              <a:t> </a:t>
            </a:r>
            <a:r>
              <a:rPr sz="3200" dirty="0" err="1"/>
              <a:t>документная</a:t>
            </a:r>
            <a:r>
              <a:rPr sz="3200" dirty="0"/>
              <a:t> БД.</a:t>
            </a:r>
          </a:p>
          <a:p>
            <a:r>
              <a:rPr sz="3200" dirty="0" err="1"/>
              <a:t>Идеальна</a:t>
            </a:r>
            <a:r>
              <a:rPr sz="3200" dirty="0"/>
              <a:t> </a:t>
            </a:r>
            <a:r>
              <a:rPr sz="3200" dirty="0" err="1"/>
              <a:t>для</a:t>
            </a:r>
            <a:r>
              <a:rPr sz="3200" dirty="0"/>
              <a:t> </a:t>
            </a:r>
            <a:r>
              <a:rPr sz="3200" dirty="0" err="1"/>
              <a:t>больших</a:t>
            </a:r>
            <a:r>
              <a:rPr sz="3200" dirty="0"/>
              <a:t> и </a:t>
            </a:r>
            <a:r>
              <a:rPr sz="3200" dirty="0" err="1"/>
              <a:t>изменчивых</a:t>
            </a:r>
            <a:r>
              <a:rPr sz="3200" dirty="0"/>
              <a:t> </a:t>
            </a:r>
            <a:r>
              <a:rPr sz="3200" dirty="0" err="1"/>
              <a:t>данных</a:t>
            </a:r>
            <a:r>
              <a:rPr sz="3200" dirty="0"/>
              <a:t>.</a:t>
            </a:r>
            <a:endParaRPr sz="3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23322" y="964692"/>
            <a:ext cx="6861319" cy="1067308"/>
          </a:xfrm>
        </p:spPr>
        <p:txBody>
          <a:bodyPr>
            <a:normAutofit fontScale="90000"/>
          </a:bodyPr>
          <a:lstStyle/>
          <a:p>
            <a:r>
              <a:rPr lang="ru-RU" dirty="0"/>
              <a:t>Спасибо за внимание!</a:t>
            </a:r>
            <a:br>
              <a:rPr lang="ru-RU" dirty="0"/>
            </a:b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8195" y="2442482"/>
            <a:ext cx="5311571" cy="3818359"/>
          </a:xfrm>
        </p:spPr>
      </p:pic>
    </p:spTree>
    <p:extLst>
      <p:ext uri="{BB962C8B-B14F-4D97-AF65-F5344CB8AC3E}">
        <p14:creationId xmlns:p14="http://schemas.microsoft.com/office/powerpoint/2010/main" val="1210703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Посылка</Template>
  <TotalTime>124</TotalTime>
  <Words>294</Words>
  <Application>Microsoft Office PowerPoint</Application>
  <PresentationFormat>Широкоэкранный</PresentationFormat>
  <Paragraphs>64</Paragraphs>
  <Slides>16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Calibri</vt:lpstr>
      <vt:lpstr>Corbel</vt:lpstr>
      <vt:lpstr>Gill Sans MT</vt:lpstr>
      <vt:lpstr>Parcel</vt:lpstr>
      <vt:lpstr>MongoDB</vt:lpstr>
      <vt:lpstr>История создания</vt:lpstr>
      <vt:lpstr>На чём написана</vt:lpstr>
      <vt:lpstr>Как устроена MongoDB</vt:lpstr>
      <vt:lpstr>Документ</vt:lpstr>
      <vt:lpstr>Коллекции</vt:lpstr>
      <vt:lpstr>Масштабирование</vt:lpstr>
      <vt:lpstr>Отказоустойчивость</vt:lpstr>
      <vt:lpstr>Основные задачи MongoDB</vt:lpstr>
      <vt:lpstr>Применение</vt:lpstr>
      <vt:lpstr>Пример задачи: интернет-магазин</vt:lpstr>
      <vt:lpstr>Пример задачи: логирование</vt:lpstr>
      <vt:lpstr>Пример задачи: мобильное приложение</vt:lpstr>
      <vt:lpstr>Преимущества</vt:lpstr>
      <vt:lpstr>Заключение</vt:lpstr>
      <vt:lpstr>Спасибо за внимание! 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MongoDB</dc:title>
  <dc:subject/>
  <dc:creator/>
  <cp:keywords/>
  <dc:description>generated using python-pptx</dc:description>
  <cp:lastModifiedBy>LDA</cp:lastModifiedBy>
  <cp:revision>10</cp:revision>
  <dcterms:created xsi:type="dcterms:W3CDTF">2013-01-27T09:14:16Z</dcterms:created>
  <dcterms:modified xsi:type="dcterms:W3CDTF">2025-12-11T16:13:26Z</dcterms:modified>
  <cp:category/>
</cp:coreProperties>
</file>